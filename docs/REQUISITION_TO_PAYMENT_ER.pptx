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4E79"/>
                </a:solidFill>
                <a:latin typeface="Calibri"/>
              </a:rPr>
              <a:t>Requisition to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93776"/>
            <a:ext cx="11430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From the requisition to the payment. Case 2 includes a contract: 10001634 → 4600000042 → 4500002148 → 1500000002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841248"/>
            <a:ext cx="21945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3A2F"/>
                </a:solidFill>
                <a:latin typeface="Calibri"/>
              </a:rPr>
              <a:t>Requisition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1554480"/>
            <a:ext cx="2194560" cy="1691640"/>
          </a:xfrm>
          <a:prstGeom prst="roundRect">
            <a:avLst>
              <a:gd name="adj" fmla="val 8000"/>
            </a:avLst>
          </a:prstGeom>
          <a:solidFill>
            <a:srgbClr val="8C3A2F"/>
          </a:solidFill>
          <a:ln>
            <a:solidFill>
              <a:srgbClr val="8C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RequisitionItem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Requisition + 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Status K =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3337560"/>
            <a:ext cx="2194560" cy="1691640"/>
          </a:xfrm>
          <a:prstGeom prst="roundRect">
            <a:avLst>
              <a:gd name="adj" fmla="val 8000"/>
            </a:avLst>
          </a:prstGeom>
          <a:solidFill>
            <a:srgbClr val="8C3A2F"/>
          </a:solidFill>
          <a:ln>
            <a:solidFill>
              <a:srgbClr val="8C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BusinessPartner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Supplier = BusinessPartner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Also the invoicing party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79" y="3108960"/>
            <a:ext cx="164592" cy="146304"/>
          </a:xfrm>
          <a:prstGeom prst="rightArrow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841248"/>
            <a:ext cx="21945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133856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PurchaseContract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PurchaseContract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Supplier, CompanyCode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624328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PurchaseContractItem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Contract + 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Target qty and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11480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ContractHistory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ReleaseOrder = PO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ReleaseOrderItem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4607" y="3108960"/>
            <a:ext cx="164592" cy="146304"/>
          </a:xfrm>
          <a:prstGeom prst="rightArrow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841248"/>
            <a:ext cx="21945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Purchase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1133856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solidFill>
              <a:srgbClr val="0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PurchaseOrder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PurchaseOrder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Supplier, CompanyCode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2624328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solidFill>
              <a:srgbClr val="0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PurchaseOrderItem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FK PurchaseContract + 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No requisition number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411480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solidFill>
              <a:srgbClr val="0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PurchaseOrderHistory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Type 1 = goods receipt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Type 2 = invoice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60336" y="3108960"/>
            <a:ext cx="164592" cy="146304"/>
          </a:xfrm>
          <a:prstGeom prst="rightArrow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841248"/>
            <a:ext cx="21945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5A00"/>
                </a:solidFill>
                <a:latin typeface="Calibri"/>
              </a:rPr>
              <a:t>Receipt and invoice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43216" y="1133856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8A5A00"/>
          </a:solidFill>
          <a:ln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GoodsMovement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MaterialDocument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Year + Item, movement 101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43216" y="2624328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8A5A00"/>
          </a:solidFill>
          <a:ln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SupplierInvoice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Invoice + Year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+ CompanyCode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6" y="411480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8A5A00"/>
          </a:solidFill>
          <a:ln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SupplierInvoiceItem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FK PO + 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Quantity and amount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56064" y="3108960"/>
            <a:ext cx="164592" cy="146304"/>
          </a:xfrm>
          <a:prstGeom prst="rightArrow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38944" y="841248"/>
            <a:ext cx="21945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3D7A"/>
                </a:solidFill>
                <a:latin typeface="Calibri"/>
              </a:rPr>
              <a:t>Journal and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38944" y="1133856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5C3D7A"/>
          </a:solidFill>
          <a:ln>
            <a:solidFill>
              <a:srgbClr val="5C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JournalLine WE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ReferenceDocumentType MKPF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ReferenceDocument = mat. doc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38944" y="2624328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5C3D7A"/>
          </a:solidFill>
          <a:ln>
            <a:solidFill>
              <a:srgbClr val="5C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JournalLine RE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ReferenceDocumentType RMRP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ReferenceDocument = invoice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38944" y="411480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5C3D7A"/>
          </a:solidFill>
          <a:ln>
            <a:solidFill>
              <a:srgbClr val="5C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JournalLine KZ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Payment document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ClearingAccountingDocument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The requisition item does not store the contract number. The PO item and the contract history 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4E79"/>
                </a:solidFill>
                <a:latin typeface="Calibri"/>
              </a:rPr>
              <a:t>Requisition to Payment — sample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93776"/>
            <a:ext cx="113385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Case 2 includes contract 4600000042. Case 1 has no contract: requisition 10001624 goes straight to PO 4500002147.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96112"/>
          <a:ext cx="11429999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389120"/>
                <a:gridCol w="3749039"/>
              </a:tblGrid>
              <a:tr h="473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this sample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Case 2. Requisition → contract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Same text, supplier, plant, quantity. Status K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0010001634 → 4600000042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Contract item →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PurchaseContract + PurchaseContractItem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ReleaseOrder 4500002148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Contract item → PO item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PurchaseContract + PurchaseContractItem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4600000042 / 00010 and 00020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History type 1 → goods receipt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PurchasingHistoryDocument = MaterialDocument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5000002952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History type 2 → invoice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PurchasingHistoryDocument = SupplierInvoice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5100001601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Material document → journal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ReferenceDocumentType MKPF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 5000000004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Invoice → journal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ReferenceDocumentType RMRP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 5100000003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Invoice journal → payment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ClearingAccountingDocument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KZ 1500000002, 221.00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Case 1. Requisition → PO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PurchaseRequisition + Item on the PO item. No contract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0010001624 → 4500002147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Case 1. Invoice → payment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ClearingAccountingDocument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KZ 1500000001, 21,500.00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Status K means the requisition was converted to a contract. Status B means it was converted straight to a purchase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